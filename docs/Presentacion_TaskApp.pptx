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230"/>
                </a:solidFill>
                <a:latin typeface="Arial"/>
              </a:rPr>
              <a:t>http_requests_total — tasa por segundo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Peticiones/seg</c:v>
                </c:pt>
              </c:strCache>
            </c:strRef>
          </c:tx>
          <c:spPr>
            <a:solidFill>
              <a:srgbClr val="D98E3F"/>
            </a:solidFill>
            <a:ln w="38100" cap="flat">
              <a:solidFill>
                <a:srgbClr val="D98E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E3F"/>
              </a:solidFill>
              <a:ln w="9525" cap="flat">
                <a:solidFill>
                  <a:srgbClr val="D98E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10:00</c:v>
                  </c:pt>
                  <c:pt idx="1">
                    <c:v>10:01</c:v>
                  </c:pt>
                  <c:pt idx="2">
                    <c:v>10:02</c:v>
                  </c:pt>
                  <c:pt idx="3">
                    <c:v>10:03</c:v>
                  </c:pt>
                  <c:pt idx="4">
                    <c:v>10:04</c:v>
                  </c:pt>
                  <c:pt idx="5">
                    <c:v>10:05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  <c:pt idx="4">
                  <c:v>6</c:v>
                </c:pt>
                <c:pt idx="5">
                  <c:v>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3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3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230"/>
                </a:solidFill>
                <a:latin typeface="Arial"/>
              </a:rPr>
              <a:t>Peticiones por código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8C6A"/>
              </a:solidFill>
              <a:effectLst/>
            </c:spPr>
          </c:dPt>
          <c:dPt>
            <c:idx val="1"/>
            <c:bubble3D val="0"/>
            <c:spPr>
              <a:solidFill>
                <a:srgbClr val="D98E3F"/>
              </a:solidFill>
              <a:effectLst/>
            </c:spPr>
          </c:dPt>
          <c:dPt>
            <c:idx val="2"/>
            <c:bubble3D val="0"/>
            <c:spPr>
              <a:solidFill>
                <a:srgbClr val="9A4A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 OK</c:v>
                </c:pt>
                <c:pt idx="1">
                  <c:v>201 Creado</c:v>
                </c:pt>
                <c:pt idx="2">
                  <c:v>4xx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68</c:v>
                </c:pt>
                <c:pt idx="1">
                  <c:v>24</c:v>
                </c:pt>
                <c:pt idx="2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image" Target="../media/image-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8842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1488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TaskApp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 Académicas — Herramientas y Servicios para Desarrolladores en la Web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colaborativo · API REST · SPA · Docker &amp; Kubernetes · Observabilidad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gestionan sus tareas académicas de forma dispersa: notas sueltas, chats, memoria. No hay un lugar único para ver qué falta entregar y para cuándo.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(TaskApp) donde el estudiante crea, organiza por materia/fecha y marca como completadas sus tareas, accesible desde cualquier dispositivo.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4846320" cy="52120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822960"/>
            <a:ext cx="4846320" cy="868680"/>
          </a:xfrm>
          <a:prstGeom prst="roundRect">
            <a:avLst>
              <a:gd name="adj" fmla="val 12632"/>
            </a:avLst>
          </a:prstGeom>
          <a:solidFill>
            <a:srgbClr val="1B2230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0" y="1417320"/>
            <a:ext cx="4846320" cy="274320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TaskApp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040880" y="19202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219456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cap. 4 — Bases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01 jul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9718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32461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wireframe — UX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28 jun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40233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4297680"/>
            <a:ext cx="292608" cy="292608"/>
          </a:xfrm>
          <a:prstGeom prst="ellipse">
            <a:avLst/>
          </a:prstGeom>
          <a:solidFill>
            <a:srgbClr val="5E8C6A"/>
          </a:solidFill>
          <a:ln w="19050">
            <a:solidFill>
              <a:srgbClr val="5E8C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 Redes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4480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24 jun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detrás de un proxy único, con observabilidad en paralelo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" y="2450592"/>
            <a:ext cx="640080" cy="64008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53380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54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60604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9" name="Shape 6"/>
          <p:cNvSpPr/>
          <p:nvPr/>
        </p:nvSpPr>
        <p:spPr>
          <a:xfrm>
            <a:off x="3177540" y="245059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50" y="2533802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3154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(Proxy)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937760" y="146304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13" name="Shape 9"/>
          <p:cNvSpPr/>
          <p:nvPr/>
        </p:nvSpPr>
        <p:spPr>
          <a:xfrm>
            <a:off x="5509260" y="1627632"/>
            <a:ext cx="640080" cy="64008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470" y="1710842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37760" y="310896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17" name="Shape 12"/>
          <p:cNvSpPr/>
          <p:nvPr/>
        </p:nvSpPr>
        <p:spPr>
          <a:xfrm>
            <a:off x="5509260" y="3273552"/>
            <a:ext cx="640080" cy="64008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470" y="3356762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37760" y="3977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269480" y="310896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21" name="Shape 15"/>
          <p:cNvSpPr/>
          <p:nvPr/>
        </p:nvSpPr>
        <p:spPr>
          <a:xfrm>
            <a:off x="7840980" y="3273552"/>
            <a:ext cx="640080" cy="64008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190" y="3356762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3977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9601200" y="146304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25" name="Shape 18"/>
          <p:cNvSpPr/>
          <p:nvPr/>
        </p:nvSpPr>
        <p:spPr>
          <a:xfrm>
            <a:off x="10172700" y="162763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5910" y="1710842"/>
            <a:ext cx="473659" cy="47365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0120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9601200" y="310896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29" name="Shape 21"/>
          <p:cNvSpPr/>
          <p:nvPr/>
        </p:nvSpPr>
        <p:spPr>
          <a:xfrm>
            <a:off x="10172700" y="327355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5910" y="3356762"/>
            <a:ext cx="473659" cy="47365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601200" y="3977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2331720" y="2999232"/>
            <a:ext cx="27432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4389120" y="2743200"/>
            <a:ext cx="548640" cy="-54864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4389120" y="3200400"/>
            <a:ext cx="548640" cy="54864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6720840" y="3794760"/>
            <a:ext cx="54864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6720840" y="3154680"/>
            <a:ext cx="2880360" cy="-98298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10492740" y="2880360"/>
            <a:ext cx="0" cy="22860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8" name="Text 29"/>
          <p:cNvSpPr/>
          <p:nvPr/>
        </p:nvSpPr>
        <p:spPr>
          <a:xfrm>
            <a:off x="54864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consulta /metrics del backend cada 10s; Grafana visualiza esos datos en tiempo real.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solidFill>
            <a:srgbClr val="3A43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Node.js + Express · React 18 + Vite + Tailwind · PostgreSQL 16 · Docker · Kubernetes · NGINX · Prometheus + Grafana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y flujo CI/CD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 Request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dispara el workflow automáticamente.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82112" y="2743200"/>
            <a:ext cx="219456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01568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4448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84448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Pruebas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valida el estilo; Jest y Newman corren las pruebas.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743200"/>
            <a:ext cx="219456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37376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37376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build de producción del frontend.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87968" y="2743200"/>
            <a:ext cx="219456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07424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90304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90304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0304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Vercel/Netlify despliega la nueva versión del frontend.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aplicadas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4747199"/>
            <a:ext cx="216530" cy="21653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60120" y="4690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main / develop / feature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5250119"/>
            <a:ext cx="216530" cy="21653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60120" y="5193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en GitHub Projects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48640" y="57150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5753039"/>
            <a:ext cx="216530" cy="21653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60120" y="5696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y documentación versionados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B22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y API segura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todas las tareas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una tarea (con validación)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/api/tareas/:id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 una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/api/tareas/:id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una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para Prometheus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0" y="137160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1B2230"/>
          </a:solidFill>
          <a:ln/>
        </p:spPr>
      </p:sp>
      <p:sp>
        <p:nvSpPr>
          <p:cNvPr id="7" name="Text 3"/>
          <p:cNvSpPr/>
          <p:nvPr/>
        </p:nvSpPr>
        <p:spPr>
          <a:xfrm>
            <a:off x="76352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aplicada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635240" y="2103120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789" y="2150669"/>
            <a:ext cx="270662" cy="27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38160" y="212140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 (previene SQL Injection)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7635240" y="2761488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789" y="2809037"/>
            <a:ext cx="270662" cy="27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38160" y="277977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entrada en cada endpoint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7635240" y="3419856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89" y="3467405"/>
            <a:ext cx="270662" cy="2706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38160" y="343814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por variables de entorno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7635240" y="4078224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789" y="4125773"/>
            <a:ext cx="270662" cy="27066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38160" y="409651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controlados, sin exponer detalles internos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7635240" y="4736592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2789" y="4784141"/>
            <a:ext cx="270662" cy="27066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138160" y="47548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configurado explícitamente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SPA y experiencia de usuario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con breakpoints; usable desde el celular hasta escritorio.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26280" y="2194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aria-label, aria-live, foco visible y soporte a reduced-motion.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SEO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75320" y="2194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Auditado con Lighthouse: build optimizado de Vite, metaetiquetas semánticas.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389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en Vercel/Netlify, conectada al repositorio: cada push a "main" dispara un nuevo deploy automáticamente.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686800" y="3931920"/>
            <a:ext cx="1463040" cy="1463040"/>
          </a:xfrm>
          <a:prstGeom prst="ellipse">
            <a:avLst/>
          </a:prstGeom>
          <a:solidFill>
            <a:srgbClr val="1B223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995" y="4122115"/>
            <a:ext cx="108265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y orquestación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(local)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1912559"/>
            <a:ext cx="216530" cy="216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56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Backend · Frontend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2415479"/>
            <a:ext cx="216530" cy="2165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359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como proxy inverso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88036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2918399"/>
            <a:ext cx="216530" cy="2165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2862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 / k3s)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48640" y="411480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79" y="4152839"/>
            <a:ext cx="216530" cy="2165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4096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 de backend y frontend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461772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79" y="4655759"/>
            <a:ext cx="216530" cy="2165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4599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Auto-recuperación si un pod falla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548640" y="512064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679" y="5158679"/>
            <a:ext cx="216530" cy="21653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5102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persistente para PostgreSQL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48640" y="562356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679" y="5661599"/>
            <a:ext cx="216530" cy="21653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60120" y="5605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como puerta de entrada única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6309360" y="14173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3A4356"/>
          </a:solidFill>
          <a:ln/>
        </p:spPr>
      </p:sp>
      <p:sp>
        <p:nvSpPr>
          <p:cNvPr id="29" name="Text 19"/>
          <p:cNvSpPr/>
          <p:nvPr/>
        </p:nvSpPr>
        <p:spPr>
          <a:xfrm>
            <a:off x="6583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taskapp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658368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backend-7f9c-x1a2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9966960" y="21671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32" name="Text 22"/>
          <p:cNvSpPr/>
          <p:nvPr/>
        </p:nvSpPr>
        <p:spPr>
          <a:xfrm>
            <a:off x="9966960" y="21671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65836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backend-7f9c-b3c4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9966960" y="26243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35" name="Text 25"/>
          <p:cNvSpPr/>
          <p:nvPr/>
        </p:nvSpPr>
        <p:spPr>
          <a:xfrm>
            <a:off x="9966960" y="2624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658368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frontend-5d8e-q1w2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9966960" y="30815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38" name="Text 28"/>
          <p:cNvSpPr/>
          <p:nvPr/>
        </p:nvSpPr>
        <p:spPr>
          <a:xfrm>
            <a:off x="9966960" y="30815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658368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frontend-5d8e-e3r4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9966960" y="35387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41" name="Text 31"/>
          <p:cNvSpPr/>
          <p:nvPr/>
        </p:nvSpPr>
        <p:spPr>
          <a:xfrm>
            <a:off x="9966960" y="3538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658368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postgres-9a1b-t5y6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9966960" y="39959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44" name="Text 34"/>
          <p:cNvSpPr/>
          <p:nvPr/>
        </p:nvSpPr>
        <p:spPr>
          <a:xfrm>
            <a:off x="9966960" y="3995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6583680" y="46634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dentro del cluster cumple el rol de balanceador entre las réplicas.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y observabilidad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463040"/>
          <a:ext cx="34747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Prometheus + dashboard Grafana pre-configurado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548640" y="44805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2" y="4516222"/>
            <a:ext cx="202997" cy="20299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446227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cada 10s al endpoint /metrics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548640" y="491947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2" y="4955134"/>
            <a:ext cx="202997" cy="20299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4901184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Memoria, CPU y event loop del backend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548640" y="535838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2" y="5394046"/>
            <a:ext cx="202997" cy="20299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534009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servicio (up/down)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metodología ágil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61488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8" name="Text 5"/>
          <p:cNvSpPr/>
          <p:nvPr/>
        </p:nvSpPr>
        <p:spPr>
          <a:xfrm>
            <a:off x="2761488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74336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4974336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87184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12" name="Text 9"/>
          <p:cNvSpPr/>
          <p:nvPr/>
        </p:nvSpPr>
        <p:spPr>
          <a:xfrm>
            <a:off x="7187184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00032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14" name="Text 11"/>
          <p:cNvSpPr/>
          <p:nvPr/>
        </p:nvSpPr>
        <p:spPr>
          <a:xfrm>
            <a:off x="9400032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606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individual: los 5 roles fueron asumidos secuencialmente por sprint, documentando cada entrega.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7F5F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Repositorio, backend y base de datos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Kanban: To Do → In Progress → Done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60520" y="3246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7F5F0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89120" y="3931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 integración con la API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38912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Kanban: To Do → In Progress → Done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772400" y="3246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7F5F0"/>
          </a:solidFill>
          <a:ln/>
        </p:spPr>
      </p:sp>
      <p:sp>
        <p:nvSpPr>
          <p:cNvPr id="25" name="Text 22"/>
          <p:cNvSpPr/>
          <p:nvPr/>
        </p:nvSpPr>
        <p:spPr>
          <a:xfrm>
            <a:off x="800100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001000" y="3931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Contenedores, Kubernetes, monitoreo y documentación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0100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Kanban: To Do → In Progress → Done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digital, seguridad y sostenibilidad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3A4356"/>
          </a:solidFill>
          <a:ln/>
        </p:spPr>
      </p:sp>
      <p:sp>
        <p:nvSpPr>
          <p:cNvPr id="4" name="Shape 2"/>
          <p:cNvSpPr/>
          <p:nvPr/>
        </p:nvSpPr>
        <p:spPr>
          <a:xfrm>
            <a:off x="1856232" y="1828800"/>
            <a:ext cx="914400" cy="91440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19476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digital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datos: solo se guarda lo estrictamente necesario, sin información personal sensible.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3A4356"/>
          </a:solidFill>
          <a:ln/>
        </p:spPr>
      </p:sp>
      <p:sp>
        <p:nvSpPr>
          <p:cNvPr id="9" name="Shape 6"/>
          <p:cNvSpPr/>
          <p:nvPr/>
        </p:nvSpPr>
        <p:spPr>
          <a:xfrm>
            <a:off x="5605272" y="1828800"/>
            <a:ext cx="914400" cy="91440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1947672"/>
            <a:ext cx="676656" cy="676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parametrizadas, credenciales en variables de entorno, errores sin exponer detalles internos.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3A4356"/>
          </a:solidFill>
          <a:ln/>
        </p:spPr>
      </p:sp>
      <p:sp>
        <p:nvSpPr>
          <p:cNvPr id="14" name="Shape 10"/>
          <p:cNvSpPr/>
          <p:nvPr/>
        </p:nvSpPr>
        <p:spPr>
          <a:xfrm>
            <a:off x="9354312" y="1828800"/>
            <a:ext cx="914400" cy="91440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1947672"/>
            <a:ext cx="676656" cy="676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2104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Docker "alpine" livianas; Kubernetes mantiene solo las réplicas necesarias.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914400"/>
            <a:ext cx="914400" cy="91440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232" y="10332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971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— Gestión de Tareas Académicas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disponible en GitHub · Demo desplegada en Vercel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TaskApp — Gestión de Tareas Académicas</dc:title>
  <dc:subject>PptxGenJS Presentation</dc:subject>
  <dc:creator>Proyecto Integrado</dc:creator>
  <cp:lastModifiedBy>Proyecto Integrado</cp:lastModifiedBy>
  <cp:revision>1</cp:revision>
  <dcterms:created xsi:type="dcterms:W3CDTF">2026-06-20T16:31:57Z</dcterms:created>
  <dcterms:modified xsi:type="dcterms:W3CDTF">2026-06-20T16:31:57Z</dcterms:modified>
</cp:coreProperties>
</file>